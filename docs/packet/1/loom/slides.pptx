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brand"/>
          <p:cNvSpPr txBox="1"/>
          <p:nvPr/>
        </p:nvSpPr>
        <p:spPr>
          <a:xfrm>
            <a:off x="7315200" y="7315200"/>
            <a:ext cx="-2438400" cy="3657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0A04B"/>
                </a:solidFill>
                <a:latin typeface="Helvetica Neue"/>
              </a:rPr>
              <a:t>Northwind Labs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7315200" y="12801600"/>
            <a:ext cx="-2438400" cy="3657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200" b="1" dirty="0">
                <a:solidFill>
                  <a:srgbClr val="F0A04B"/>
                </a:solidFill>
                <a:latin typeface="Helvetica Neue"/>
              </a:rPr>
              <a:t>APPLICATION · FULL STACK ENGINEER</a:t>
            </a:r>
          </a:p>
        </p:txBody>
      </p:sp>
      <p:sp>
        <p:nvSpPr>
          <p:cNvPr id="4" name="h1"/>
          <p:cNvSpPr txBox="1"/>
          <p:nvPr/>
        </p:nvSpPr>
        <p:spPr>
          <a:xfrm>
            <a:off x="7315200" y="17373600"/>
            <a:ext cx="-2438400" cy="10972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Helvetica Neue"/>
              </a:rPr>
              <a:t>Alex Rivera</a:t>
            </a:r>
          </a:p>
        </p:txBody>
      </p:sp>
      <p:sp>
        <p:nvSpPr>
          <p:cNvPr id="5" name="lead"/>
          <p:cNvSpPr txBox="1"/>
          <p:nvPr/>
        </p:nvSpPr>
        <p:spPr>
          <a:xfrm>
            <a:off x="7315200" y="30175200"/>
            <a:ext cx="-2438400" cy="9144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800" b="0" dirty="0">
                <a:solidFill>
                  <a:srgbClr val="B9C7D6"/>
                </a:solidFill>
                <a:latin typeface="Helvetica Neue"/>
              </a:rPr>
              <a:t>Full-stack engineer · AI systems · Lisbon, Portugal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kicker"/>
          <p:cNvSpPr txBox="1"/>
          <p:nvPr/>
        </p:nvSpPr>
        <p:spPr>
          <a:xfrm>
            <a:off x="7315200" y="7315200"/>
            <a:ext cx="-2438400" cy="3657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200" b="1" dirty="0">
                <a:solidFill>
                  <a:srgbClr val="F0A04B"/>
                </a:solidFill>
                <a:latin typeface="Helvetica Neue"/>
              </a:rPr>
              <a:t>WHAT I BUILT</a:t>
            </a:r>
          </a:p>
        </p:txBody>
      </p:sp>
      <p:sp>
        <p:nvSpPr>
          <p:cNvPr id="3" name="big"/>
          <p:cNvSpPr txBox="1"/>
          <p:nvPr/>
        </p:nvSpPr>
        <p:spPr>
          <a:xfrm>
            <a:off x="7315200" y="11887200"/>
            <a:ext cx="-2438400" cy="12801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6600" b="1" dirty="0">
                <a:solidFill>
                  <a:srgbClr val="F0A04B"/>
                </a:solidFill>
                <a:latin typeface="Helvetica Neue"/>
              </a:rPr>
              <a:t>16,000</a:t>
            </a:r>
          </a:p>
        </p:txBody>
      </p:sp>
      <p:sp>
        <p:nvSpPr>
          <p:cNvPr id="4" name="bigSub"/>
          <p:cNvSpPr txBox="1"/>
          <p:nvPr/>
        </p:nvSpPr>
        <p:spPr>
          <a:xfrm>
            <a:off x="7315200" y="26517600"/>
            <a:ext cx="-2438400" cy="9144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600" b="0" dirty="0">
                <a:solidFill>
                  <a:srgbClr val="B9C7D6"/>
                </a:solidFill>
                <a:latin typeface="Helvetica Neue"/>
              </a:rPr>
              <a:t>job postings screened per run, across dozens of boards, in Node with zero dependencies — full-time, salary band, and whether I am actually eligible.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kicker"/>
          <p:cNvSpPr txBox="1"/>
          <p:nvPr/>
        </p:nvSpPr>
        <p:spPr>
          <a:xfrm>
            <a:off x="7315200" y="7315200"/>
            <a:ext cx="-2438400" cy="3657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200" b="1" dirty="0">
                <a:solidFill>
                  <a:srgbClr val="F0A04B"/>
                </a:solidFill>
                <a:latin typeface="Helvetica Neue"/>
              </a:rPr>
              <a:t>THE PART THAT MATTERS</a:t>
            </a:r>
          </a:p>
        </p:txBody>
      </p:sp>
      <p:sp>
        <p:nvSpPr>
          <p:cNvPr id="3" name="h2"/>
          <p:cNvSpPr txBox="1"/>
          <p:nvPr/>
        </p:nvSpPr>
        <p:spPr>
          <a:xfrm>
            <a:off x="7315200" y="11887200"/>
            <a:ext cx="-2438400" cy="9144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Helvetica Neue"/>
              </a:rPr>
              <a:t>Every accept and reject records the sentence that caused it.</a:t>
            </a:r>
          </a:p>
        </p:txBody>
      </p:sp>
      <p:sp>
        <p:nvSpPr>
          <p:cNvPr id="4" name="list"/>
          <p:cNvSpPr txBox="1"/>
          <p:nvPr/>
        </p:nvSpPr>
        <p:spPr>
          <a:xfrm>
            <a:off x="7315200" y="22860000"/>
            <a:ext cx="-2438400" cy="18288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800" b="0" dirty="0">
                <a:solidFill>
                  <a:srgbClr val="E9F0F7"/>
                </a:solidFill>
                <a:latin typeface="Helvetica Neue"/>
              </a:rPr>
              <a:t>•  So the filter can be audited, not trusted</a:t>
            </a:r>
          </a:p>
          <a:p>
            <a:pPr algn="l"/>
            <a:r>
              <a:rPr lang="en-US" sz="1800" b="0" dirty="0">
                <a:solidFill>
                  <a:srgbClr val="E9F0F7"/>
                </a:solidFill>
                <a:latin typeface="Helvetica Neue"/>
              </a:rPr>
              <a:t>•  Reading that output found four rules in my own code that were quietly wrong</a:t>
            </a:r>
          </a:p>
          <a:p>
            <a:pPr algn="l"/>
            <a:r>
              <a:rPr lang="en-US" sz="1800" b="0" dirty="0">
                <a:solidFill>
                  <a:srgbClr val="E9F0F7"/>
                </a:solidFill>
                <a:latin typeface="Helvetica Neue"/>
              </a:rPr>
              <a:t>•  One read equity grants as base salary — a $190k role looked like $24k</a:t>
            </a:r>
          </a:p>
          <a:p>
            <a:pPr algn="l"/>
            <a:r>
              <a:rPr lang="en-US" sz="1800" b="0" dirty="0">
                <a:solidFill>
                  <a:srgbClr val="E9F0F7"/>
                </a:solidFill>
                <a:latin typeface="Helvetica Neue"/>
              </a:rPr>
              <a:t>•  It is also how I found this job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kicker"/>
          <p:cNvSpPr txBox="1"/>
          <p:nvPr/>
        </p:nvSpPr>
        <p:spPr>
          <a:xfrm>
            <a:off x="7315200" y="7315200"/>
            <a:ext cx="-2438400" cy="3657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200" b="1" dirty="0">
                <a:solidFill>
                  <a:srgbClr val="F0A04B"/>
                </a:solidFill>
                <a:latin typeface="Helvetica Neue"/>
              </a:rPr>
              <a:t>HONEST FIT</a:t>
            </a:r>
          </a:p>
        </p:txBody>
      </p:sp>
      <p:sp>
        <p:nvSpPr>
          <p:cNvPr id="3" name="h2"/>
          <p:cNvSpPr txBox="1"/>
          <p:nvPr/>
        </p:nvSpPr>
        <p:spPr>
          <a:xfrm>
            <a:off x="7315200" y="11887200"/>
            <a:ext cx="-2438400" cy="9144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Helvetica Neue"/>
              </a:rPr>
              <a:t>What I bring, and what I don’t.</a:t>
            </a:r>
          </a:p>
        </p:txBody>
      </p:sp>
      <p:sp>
        <p:nvSpPr>
          <p:cNvPr id="4" name="col0head"/>
          <p:cNvSpPr txBox="1"/>
          <p:nvPr/>
        </p:nvSpPr>
        <p:spPr>
          <a:xfrm>
            <a:off x="7315200" y="22860000"/>
            <a:ext cx="-3048000" cy="3657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200" b="1" dirty="0">
                <a:solidFill>
                  <a:srgbClr val="5EC8C0"/>
                </a:solidFill>
                <a:latin typeface="Helvetica Neue"/>
              </a:rPr>
              <a:t>I HAVE</a:t>
            </a:r>
          </a:p>
        </p:txBody>
      </p:sp>
      <p:sp>
        <p:nvSpPr>
          <p:cNvPr id="5" name="col0"/>
          <p:cNvSpPr txBox="1"/>
          <p:nvPr/>
        </p:nvSpPr>
        <p:spPr>
          <a:xfrm>
            <a:off x="7315200" y="27432000"/>
            <a:ext cx="-3048000" cy="18288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500" b="0" dirty="0">
                <a:solidFill>
                  <a:srgbClr val="E9F0F7"/>
                </a:solidFill>
                <a:latin typeface="Helvetica Neue"/>
              </a:rPr>
              <a:t>•  Their stack: javascript, typescript, react</a:t>
            </a:r>
          </a:p>
          <a:p>
            <a:pPr algn="l"/>
            <a:r>
              <a:rPr lang="en-US" sz="1500" b="0" dirty="0">
                <a:solidFill>
                  <a:srgbClr val="E9F0F7"/>
                </a:solidFill>
                <a:latin typeface="Helvetica Neue"/>
              </a:rPr>
              <a:t>•  Projects built beyond any curriculum</a:t>
            </a:r>
          </a:p>
          <a:p>
            <a:pPr algn="l"/>
            <a:r>
              <a:rPr lang="en-US" sz="1500" b="0" dirty="0">
                <a:solidFill>
                  <a:srgbClr val="E9F0F7"/>
                </a:solidFill>
                <a:latin typeface="Helvetica Neue"/>
              </a:rPr>
              <a:t>•  A year of client work entirely in English</a:t>
            </a:r>
          </a:p>
          <a:p>
            <a:pPr algn="l"/>
            <a:r>
              <a:rPr lang="en-US" sz="1500" b="0" dirty="0">
                <a:solidFill>
                  <a:srgbClr val="E9F0F7"/>
                </a:solidFill>
                <a:latin typeface="Helvetica Neue"/>
              </a:rPr>
              <a:t>•  B.E. Artificial Intelligence &amp; Data Science, 2025</a:t>
            </a:r>
          </a:p>
        </p:txBody>
      </p:sp>
      <p:sp>
        <p:nvSpPr>
          <p:cNvPr id="6" name="col1head"/>
          <p:cNvSpPr txBox="1"/>
          <p:nvPr/>
        </p:nvSpPr>
        <p:spPr>
          <a:xfrm>
            <a:off x="7924800" y="22860000"/>
            <a:ext cx="-3048000" cy="3657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200" b="1" dirty="0">
                <a:solidFill>
                  <a:srgbClr val="F0A04B"/>
                </a:solidFill>
                <a:latin typeface="Helvetica Neue"/>
              </a:rPr>
              <a:t>I DON’T, YET</a:t>
            </a:r>
          </a:p>
        </p:txBody>
      </p:sp>
      <p:sp>
        <p:nvSpPr>
          <p:cNvPr id="7" name="col1"/>
          <p:cNvSpPr txBox="1"/>
          <p:nvPr/>
        </p:nvSpPr>
        <p:spPr>
          <a:xfrm>
            <a:off x="7924800" y="27432000"/>
            <a:ext cx="-3048000" cy="18288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500" b="0" dirty="0">
                <a:solidFill>
                  <a:srgbClr val="E9F0F7"/>
                </a:solidFill>
                <a:latin typeface="Helvetica Neue"/>
              </a:rPr>
              <a:t>•  sql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brand"/>
          <p:cNvSpPr txBox="1"/>
          <p:nvPr/>
        </p:nvSpPr>
        <p:spPr>
          <a:xfrm>
            <a:off x="7315200" y="7315200"/>
            <a:ext cx="-2438400" cy="3657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0A04B"/>
                </a:solidFill>
                <a:latin typeface="Helvetica Neue"/>
              </a:rPr>
              <a:t>Northwind Labs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7315200" y="12801600"/>
            <a:ext cx="-2438400" cy="3657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200" b="1" dirty="0">
                <a:solidFill>
                  <a:srgbClr val="F0A04B"/>
                </a:solidFill>
                <a:latin typeface="Helvetica Neue"/>
              </a:rPr>
              <a:t>THE ASK</a:t>
            </a:r>
          </a:p>
        </p:txBody>
      </p:sp>
      <p:sp>
        <p:nvSpPr>
          <p:cNvPr id="4" name="h1"/>
          <p:cNvSpPr txBox="1"/>
          <p:nvPr/>
        </p:nvSpPr>
        <p:spPr>
          <a:xfrm>
            <a:off x="7315200" y="17373600"/>
            <a:ext cx="-2438400" cy="10972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Helvetica Neue"/>
              </a:rPr>
              <a:t>Twenty minutes.</a:t>
            </a:r>
          </a:p>
        </p:txBody>
      </p:sp>
      <p:sp>
        <p:nvSpPr>
          <p:cNvPr id="5" name="lead"/>
          <p:cNvSpPr txBox="1"/>
          <p:nvPr/>
        </p:nvSpPr>
        <p:spPr>
          <a:xfrm>
            <a:off x="7315200" y="30175200"/>
            <a:ext cx="-2438400" cy="9144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800" b="0" dirty="0">
                <a:solidFill>
                  <a:srgbClr val="B9C7D6"/>
                </a:solidFill>
                <a:latin typeface="Helvetica Neue"/>
              </a:rPr>
              <a:t>Not the strongest candidate on paper. A strong one on evidence of building things nobody asked for.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Job Hunter">
  <a:themeElements>
    <a:clrScheme name="Job Hunter">
      <a:dk1>
        <a:srgbClr val="0F1720"/>
      </a:dk1>
      <a:lt1>
        <a:srgbClr val="FFFFFF"/>
      </a:lt1>
      <a:dk2>
        <a:srgbClr val="16212E"/>
      </a:dk2>
      <a:lt2>
        <a:srgbClr val="E9F0F7"/>
      </a:lt2>
      <a:accent1>
        <a:srgbClr val="F0A04B"/>
      </a:accent1>
      <a:accent2>
        <a:srgbClr val="5EC8C0"/>
      </a:accent2>
      <a:accent3>
        <a:srgbClr val="6FB3F5"/>
      </a:accent3>
      <a:accent4>
        <a:srgbClr val="4FD1A5"/>
      </a:accent4>
      <a:accent5>
        <a:srgbClr val="F0616D"/>
      </a:accent5>
      <a:accent6>
        <a:srgbClr val="B9C7D6"/>
      </a:accent6>
      <a:hlink>
        <a:srgbClr val="F0A04B"/>
      </a:hlink>
      <a:folHlink>
        <a:srgbClr val="B9C7D6"/>
      </a:folHlink>
    </a:clrScheme>
    <a:fontScheme name="Job Hunter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Job Hunt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